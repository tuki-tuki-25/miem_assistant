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c5826a7d-921e-8989-2159-2f4ecd0e1495}">
          <p14:sldIdLst>
            <p14:sldId id="256"/>
          </p14:sldIdLst>
        </p14:section>
        <p14:section name="Решение" id="{ab081923-2ac2-11ab-187a-1a2e835540c5}">
          <p14:sldIdLst>
            <p14:sldId id="257"/>
            <p14:sldId id="258"/>
            <p14:sldId id="259"/>
          </p14:sldIdLst>
        </p14:section>
        <p14:section name="Оценка" id="{f3c56975-ccba-5fba-d0a3-66a37c2b7335}">
          <p14:sldIdLst>
            <p14:sldId id="260"/>
            <p14:sldId id="261"/>
            <p14:sldId id="262"/>
          </p14:sldIdLst>
        </p14:section>
        <p14:section name="Запуск" id="{09bb2ff6-ffcd-3764-f327-f8a0a55c5a1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пользователя → поиск по программам дисциплин 1 курса → краткий ответ с указанием источников.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18872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Помощник первокурсника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ИВТ МИЭМ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Прототип для ответов по учебным программам НИУ ВШЭ, 2026/2027</a:t>
            </a:r>
            <a:endParaRPr lang="en-US" sz="2000" dirty="0"/>
          </a:p>
        </p:txBody>
      </p:sp>
      <p:sp>
        <p:nvSpPr>
          <p:cNvPr id="4" name="Chip 1"/>
          <p:cNvSpPr/>
          <p:nvPr/>
        </p:nvSpPr>
        <p:spPr>
          <a:xfrm>
            <a:off x="8503920" y="1463040"/>
            <a:ext cx="3108960" cy="1051560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737360"/>
            <a:ext cx="502920" cy="502920"/>
          </a:xfrm>
          <a:prstGeom prst="rect">
            <a:avLst/>
          </a:prstGeom>
        </p:spPr>
      </p:pic>
      <p:sp>
        <p:nvSpPr>
          <p:cNvPr id="6" name="Chip text 1"/>
          <p:cNvSpPr txBox="1"/>
          <p:nvPr/>
        </p:nvSpPr>
        <p:spPr>
          <a:xfrm>
            <a:off x="9418320" y="14630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Только 1 курс</a:t>
            </a:r>
            <a:endParaRPr lang="en-US" sz="1600" dirty="0"/>
          </a:p>
        </p:txBody>
      </p:sp>
      <p:sp>
        <p:nvSpPr>
          <p:cNvPr id="7" name="Chip 2"/>
          <p:cNvSpPr/>
          <p:nvPr/>
        </p:nvSpPr>
        <p:spPr>
          <a:xfrm>
            <a:off x="8503920" y="2834640"/>
            <a:ext cx="3108960" cy="1051560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3108960"/>
            <a:ext cx="502920" cy="502920"/>
          </a:xfrm>
          <a:prstGeom prst="rect">
            <a:avLst/>
          </a:prstGeom>
        </p:spPr>
      </p:pic>
      <p:sp>
        <p:nvSpPr>
          <p:cNvPr id="9" name="Chip text 2"/>
          <p:cNvSpPr txBox="1"/>
          <p:nvPr/>
        </p:nvSpPr>
        <p:spPr>
          <a:xfrm>
            <a:off x="9418320" y="28346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RAG + LLM</a:t>
            </a:r>
            <a:endParaRPr lang="en-US" sz="1600" dirty="0"/>
          </a:p>
        </p:txBody>
      </p:sp>
      <p:sp>
        <p:nvSpPr>
          <p:cNvPr id="10" name="Chip 3"/>
          <p:cNvSpPr/>
          <p:nvPr/>
        </p:nvSpPr>
        <p:spPr>
          <a:xfrm>
            <a:off x="8503920" y="4206240"/>
            <a:ext cx="3108960" cy="1051560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480560"/>
            <a:ext cx="502920" cy="502920"/>
          </a:xfrm>
          <a:prstGeom prst="rect">
            <a:avLst/>
          </a:prstGeom>
        </p:spPr>
      </p:pic>
      <p:sp>
        <p:nvSpPr>
          <p:cNvPr id="12" name="Chip text 3"/>
          <p:cNvSpPr txBox="1"/>
          <p:nvPr/>
        </p:nvSpPr>
        <p:spPr>
          <a:xfrm>
            <a:off x="9418320" y="42062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Ответ и список источников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устроено решение</a:t>
            </a:r>
            <a:endParaRPr lang="en-US" sz="38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459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circle 1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21408"/>
            <a:ext cx="420624" cy="420624"/>
          </a:xfrm>
          <a:prstGeom prst="rect">
            <a:avLst/>
          </a:prstGeom>
        </p:spPr>
      </p:pic>
      <p:sp>
        <p:nvSpPr>
          <p:cNvPr id="6" name="Step title 1"/>
          <p:cNvSpPr txBox="1"/>
          <p:nvPr/>
        </p:nvSpPr>
        <p:spPr>
          <a:xfrm>
            <a:off x="8229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1. Ingestion</a:t>
            </a:r>
            <a:endParaRPr lang="en-US" sz="2200" dirty="0"/>
          </a:p>
        </p:txBody>
      </p:sp>
      <p:sp>
        <p:nvSpPr>
          <p:cNvPr id="7" name="Step text 1"/>
          <p:cNvSpPr txBox="1"/>
          <p:nvPr/>
        </p:nvSpPr>
        <p:spPr>
          <a:xfrm>
            <a:off x="822960" y="3429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Каталог HSE → страницы дисциплин → структурированный локальный корпус</a:t>
            </a:r>
            <a:endParaRPr lang="en-US" sz="1500" dirty="0"/>
          </a:p>
        </p:txBody>
      </p:sp>
      <p:sp>
        <p:nvSpPr>
          <p:cNvPr id="8" name="Arrow 1"/>
          <p:cNvSpPr txBox="1"/>
          <p:nvPr/>
        </p:nvSpPr>
        <p:spPr>
          <a:xfrm>
            <a:off x="310896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tep card 2"/>
          <p:cNvSpPr/>
          <p:nvPr/>
        </p:nvSpPr>
        <p:spPr>
          <a:xfrm>
            <a:off x="3383280" y="16459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 circle 2"/>
          <p:cNvSpPr/>
          <p:nvPr/>
        </p:nvSpPr>
        <p:spPr>
          <a:xfrm>
            <a:off x="365760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121408"/>
            <a:ext cx="420624" cy="420624"/>
          </a:xfrm>
          <a:prstGeom prst="rect">
            <a:avLst/>
          </a:prstGeom>
        </p:spPr>
      </p:pic>
      <p:sp>
        <p:nvSpPr>
          <p:cNvPr id="12" name="Step title 2"/>
          <p:cNvSpPr txBox="1"/>
          <p:nvPr/>
        </p:nvSpPr>
        <p:spPr>
          <a:xfrm>
            <a:off x="365760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2. Retrieval</a:t>
            </a:r>
            <a:endParaRPr lang="en-US" sz="2200" dirty="0"/>
          </a:p>
        </p:txBody>
      </p:sp>
      <p:sp>
        <p:nvSpPr>
          <p:cNvPr id="13" name="Step text 2"/>
          <p:cNvSpPr txBox="1"/>
          <p:nvPr/>
        </p:nvSpPr>
        <p:spPr>
          <a:xfrm>
            <a:off x="3657600" y="3429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TF-IDF (униграммы и биграммы) выбирает наиболее релевантные фрагменты</a:t>
            </a:r>
            <a:endParaRPr lang="en-US" sz="1500" dirty="0"/>
          </a:p>
        </p:txBody>
      </p:sp>
      <p:sp>
        <p:nvSpPr>
          <p:cNvPr id="14" name="Arrow 2"/>
          <p:cNvSpPr txBox="1"/>
          <p:nvPr/>
        </p:nvSpPr>
        <p:spPr>
          <a:xfrm>
            <a:off x="594360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›</a:t>
            </a:r>
            <a:endParaRPr lang="en-US" sz="2800" dirty="0"/>
          </a:p>
        </p:txBody>
      </p:sp>
      <p:sp>
        <p:nvSpPr>
          <p:cNvPr id="15" name="Step card 3"/>
          <p:cNvSpPr/>
          <p:nvPr/>
        </p:nvSpPr>
        <p:spPr>
          <a:xfrm>
            <a:off x="6217920" y="16459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circle 3"/>
          <p:cNvSpPr/>
          <p:nvPr/>
        </p:nvSpPr>
        <p:spPr>
          <a:xfrm>
            <a:off x="649224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121408"/>
            <a:ext cx="420624" cy="420624"/>
          </a:xfrm>
          <a:prstGeom prst="rect">
            <a:avLst/>
          </a:prstGeom>
        </p:spPr>
      </p:pic>
      <p:sp>
        <p:nvSpPr>
          <p:cNvPr id="18" name="Step title 3"/>
          <p:cNvSpPr txBox="1"/>
          <p:nvPr/>
        </p:nvSpPr>
        <p:spPr>
          <a:xfrm>
            <a:off x="649224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3. Generation</a:t>
            </a:r>
            <a:endParaRPr lang="en-US" sz="2200" dirty="0"/>
          </a:p>
        </p:txBody>
      </p:sp>
      <p:sp>
        <p:nvSpPr>
          <p:cNvPr id="19" name="Step text 3"/>
          <p:cNvSpPr txBox="1"/>
          <p:nvPr/>
        </p:nvSpPr>
        <p:spPr>
          <a:xfrm>
            <a:off x="6492240" y="3429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Контекст передаётся LLM; модель обязана отвечать только по нему</a:t>
            </a:r>
            <a:endParaRPr lang="en-US" sz="1500" dirty="0"/>
          </a:p>
        </p:txBody>
      </p:sp>
      <p:sp>
        <p:nvSpPr>
          <p:cNvPr id="20" name="Arrow 3"/>
          <p:cNvSpPr txBox="1"/>
          <p:nvPr/>
        </p:nvSpPr>
        <p:spPr>
          <a:xfrm>
            <a:off x="877824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›</a:t>
            </a:r>
            <a:endParaRPr lang="en-US" sz="2800" dirty="0"/>
          </a:p>
        </p:txBody>
      </p:sp>
      <p:sp>
        <p:nvSpPr>
          <p:cNvPr id="21" name="Step card 4"/>
          <p:cNvSpPr/>
          <p:nvPr/>
        </p:nvSpPr>
        <p:spPr>
          <a:xfrm>
            <a:off x="9052560" y="16459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 circle 4"/>
          <p:cNvSpPr/>
          <p:nvPr/>
        </p:nvSpPr>
        <p:spPr>
          <a:xfrm>
            <a:off x="932688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2121408"/>
            <a:ext cx="420624" cy="420624"/>
          </a:xfrm>
          <a:prstGeom prst="rect">
            <a:avLst/>
          </a:prstGeom>
        </p:spPr>
      </p:pic>
      <p:sp>
        <p:nvSpPr>
          <p:cNvPr id="24" name="Step title 4"/>
          <p:cNvSpPr txBox="1"/>
          <p:nvPr/>
        </p:nvSpPr>
        <p:spPr>
          <a:xfrm>
            <a:off x="932688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4. Evidence</a:t>
            </a:r>
            <a:endParaRPr lang="en-US" sz="2200" dirty="0"/>
          </a:p>
        </p:txBody>
      </p:sp>
      <p:sp>
        <p:nvSpPr>
          <p:cNvPr id="25" name="Step text 4"/>
          <p:cNvSpPr txBox="1"/>
          <p:nvPr/>
        </p:nvSpPr>
        <p:spPr>
          <a:xfrm>
            <a:off x="9326880" y="3429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Вместе с ответом показываются URL исходных страниц HSE</a:t>
            </a:r>
            <a:endParaRPr lang="en-US" sz="1500" dirty="0"/>
          </a:p>
        </p:txBody>
      </p:sp>
      <p:sp>
        <p:nvSpPr>
          <p:cNvPr id="26" name="Fallback card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>
                <a:alpha val="15000"/>
              </a:schemeClr>
            </a:solidFill>
            <a:prstDash val="solid"/>
          </a:ln>
        </p:spPr>
      </p:sp>
      <p:sp>
        <p:nvSpPr>
          <p:cNvPr id="27" name="Fallback text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Без API-ключа: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extractive-режим, в котором показываются найденные фрагменты программ.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RAG</a:t>
            </a:r>
            <a:endParaRPr lang="en-US" sz="3800" dirty="0"/>
          </a:p>
        </p:txBody>
      </p:sp>
      <p:sp>
        <p:nvSpPr>
          <p:cNvPr id="3" name="Why card 1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Why circle 1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6" name="Why title 1"/>
          <p:cNvSpPr txBox="1"/>
          <p:nvPr/>
        </p:nvSpPr>
        <p:spPr>
          <a:xfrm>
            <a:off x="182880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Программы меняются</a:t>
            </a:r>
            <a:endParaRPr lang="en-US" sz="2200" dirty="0"/>
          </a:p>
        </p:txBody>
      </p:sp>
      <p:sp>
        <p:nvSpPr>
          <p:cNvPr id="7" name="Why text 1"/>
          <p:cNvSpPr txBox="1"/>
          <p:nvPr/>
        </p:nvSpPr>
        <p:spPr>
          <a:xfrm>
            <a:off x="182880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Знания лучше хранить во внешнем корпусе, а не зашивать в prompt.</a:t>
            </a:r>
            <a:endParaRPr lang="en-US" sz="1600" dirty="0"/>
          </a:p>
        </p:txBody>
      </p:sp>
      <p:sp>
        <p:nvSpPr>
          <p:cNvPr id="8" name="Why card 2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Why circle 2"/>
          <p:cNvSpPr/>
          <p:nvPr/>
        </p:nvSpPr>
        <p:spPr>
          <a:xfrm>
            <a:off x="6492240" y="1965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48840"/>
            <a:ext cx="365760" cy="365760"/>
          </a:xfrm>
          <a:prstGeom prst="rect">
            <a:avLst/>
          </a:prstGeom>
        </p:spPr>
      </p:pic>
      <p:sp>
        <p:nvSpPr>
          <p:cNvPr id="11" name="Why title 2"/>
          <p:cNvSpPr txBox="1"/>
          <p:nvPr/>
        </p:nvSpPr>
        <p:spPr>
          <a:xfrm>
            <a:off x="745236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Меньше галлюцинаций</a:t>
            </a:r>
            <a:endParaRPr lang="en-US" sz="2200" dirty="0"/>
          </a:p>
        </p:txBody>
      </p:sp>
      <p:sp>
        <p:nvSpPr>
          <p:cNvPr id="12" name="Why text 2"/>
          <p:cNvSpPr txBox="1"/>
          <p:nvPr/>
        </p:nvSpPr>
        <p:spPr>
          <a:xfrm>
            <a:off x="745236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Retrieval сужает область ответа и позволяет показать доказательство.</a:t>
            </a:r>
            <a:endParaRPr lang="en-US" sz="1600" dirty="0"/>
          </a:p>
        </p:txBody>
      </p:sp>
      <p:sp>
        <p:nvSpPr>
          <p:cNvPr id="13" name="Why card 3"/>
          <p:cNvSpPr/>
          <p:nvPr/>
        </p:nvSpPr>
        <p:spPr>
          <a:xfrm>
            <a:off x="548640" y="39319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Why circle 3"/>
          <p:cNvSpPr/>
          <p:nvPr/>
        </p:nvSpPr>
        <p:spPr>
          <a:xfrm>
            <a:off x="868680" y="4297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480560"/>
            <a:ext cx="365760" cy="365760"/>
          </a:xfrm>
          <a:prstGeom prst="rect">
            <a:avLst/>
          </a:prstGeom>
        </p:spPr>
      </p:pic>
      <p:sp>
        <p:nvSpPr>
          <p:cNvPr id="16" name="Why title 3"/>
          <p:cNvSpPr txBox="1"/>
          <p:nvPr/>
        </p:nvSpPr>
        <p:spPr>
          <a:xfrm>
            <a:off x="1828800" y="4251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Воспроизводимость</a:t>
            </a:r>
            <a:endParaRPr lang="en-US" sz="2200" dirty="0"/>
          </a:p>
        </p:txBody>
      </p:sp>
      <p:sp>
        <p:nvSpPr>
          <p:cNvPr id="17" name="Why text 3"/>
          <p:cNvSpPr txBox="1"/>
          <p:nvPr/>
        </p:nvSpPr>
        <p:spPr>
          <a:xfrm>
            <a:off x="1828800" y="4800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Локальный JSON делает демо повторяемым; ingest.py обновляет срез.</a:t>
            </a:r>
            <a:endParaRPr lang="en-US" sz="1600" dirty="0"/>
          </a:p>
        </p:txBody>
      </p:sp>
      <p:sp>
        <p:nvSpPr>
          <p:cNvPr id="18" name="Why card 4"/>
          <p:cNvSpPr/>
          <p:nvPr/>
        </p:nvSpPr>
        <p:spPr>
          <a:xfrm>
            <a:off x="6172200" y="39319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Why circle 4"/>
          <p:cNvSpPr/>
          <p:nvPr/>
        </p:nvSpPr>
        <p:spPr>
          <a:xfrm>
            <a:off x="6492240" y="4297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80560"/>
            <a:ext cx="365760" cy="365760"/>
          </a:xfrm>
          <a:prstGeom prst="rect">
            <a:avLst/>
          </a:prstGeom>
        </p:spPr>
      </p:pic>
      <p:sp>
        <p:nvSpPr>
          <p:cNvPr id="21" name="Why title 4"/>
          <p:cNvSpPr txBox="1"/>
          <p:nvPr/>
        </p:nvSpPr>
        <p:spPr>
          <a:xfrm>
            <a:off x="7452360" y="4251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Простой baseline</a:t>
            </a:r>
            <a:endParaRPr lang="en-US" sz="2200" dirty="0"/>
          </a:p>
        </p:txBody>
      </p:sp>
      <p:sp>
        <p:nvSpPr>
          <p:cNvPr id="22" name="Why text 4"/>
          <p:cNvSpPr txBox="1"/>
          <p:nvPr/>
        </p:nvSpPr>
        <p:spPr>
          <a:xfrm>
            <a:off x="7452360" y="4800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TF-IDF прозрачен и быстро реализуется за ограниченное время.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индексируется</a:t>
            </a:r>
            <a:endParaRPr lang="en-US" sz="3800" dirty="0"/>
          </a:p>
        </p:txBody>
      </p:sp>
      <p:sp>
        <p:nvSpPr>
          <p:cNvPr id="3" name="Tag 1"/>
          <p:cNvSpPr/>
          <p:nvPr/>
        </p:nvSpPr>
        <p:spPr>
          <a:xfrm>
            <a:off x="548640" y="1600200"/>
            <a:ext cx="21945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ag text 1"/>
          <p:cNvSpPr txBox="1"/>
          <p:nvPr/>
        </p:nvSpPr>
        <p:spPr>
          <a:xfrm>
            <a:off x="54864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Метаданные</a:t>
            </a:r>
            <a:endParaRPr lang="en-US" sz="1800" dirty="0"/>
          </a:p>
        </p:txBody>
      </p:sp>
      <p:sp>
        <p:nvSpPr>
          <p:cNvPr id="5" name="Tag desc 1"/>
          <p:cNvSpPr txBox="1"/>
          <p:nvPr/>
        </p:nvSpPr>
        <p:spPr>
          <a:xfrm>
            <a:off x="2971800" y="1600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название, год, кредиты, язык, статус, модули</a:t>
            </a:r>
            <a:endParaRPr lang="en-US" sz="1600" dirty="0"/>
          </a:p>
        </p:txBody>
      </p:sp>
      <p:sp>
        <p:nvSpPr>
          <p:cNvPr id="6" name="Tag 2"/>
          <p:cNvSpPr/>
          <p:nvPr/>
        </p:nvSpPr>
        <p:spPr>
          <a:xfrm>
            <a:off x="548640" y="2697480"/>
            <a:ext cx="2194560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ag text 2"/>
          <p:cNvSpPr txBox="1"/>
          <p:nvPr/>
        </p:nvSpPr>
        <p:spPr>
          <a:xfrm>
            <a:off x="54864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Содержание</a:t>
            </a:r>
            <a:endParaRPr lang="en-US" sz="1800" dirty="0"/>
          </a:p>
        </p:txBody>
      </p:sp>
      <p:sp>
        <p:nvSpPr>
          <p:cNvPr id="8" name="Tag desc 2"/>
          <p:cNvSpPr txBox="1"/>
          <p:nvPr/>
        </p:nvSpPr>
        <p:spPr>
          <a:xfrm>
            <a:off x="2971800" y="2697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аннотация, цели, результаты обучения, темы</a:t>
            </a:r>
            <a:endParaRPr lang="en-US" sz="1600" dirty="0"/>
          </a:p>
        </p:txBody>
      </p:sp>
      <p:sp>
        <p:nvSpPr>
          <p:cNvPr id="9" name="Tag 3"/>
          <p:cNvSpPr/>
          <p:nvPr/>
        </p:nvSpPr>
        <p:spPr>
          <a:xfrm>
            <a:off x="548640" y="3794760"/>
            <a:ext cx="2194560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ag text 3"/>
          <p:cNvSpPr txBox="1"/>
          <p:nvPr/>
        </p:nvSpPr>
        <p:spPr>
          <a:xfrm>
            <a:off x="548640" y="3794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Оценивание</a:t>
            </a:r>
            <a:endParaRPr lang="en-US" sz="1800" dirty="0"/>
          </a:p>
        </p:txBody>
      </p:sp>
      <p:sp>
        <p:nvSpPr>
          <p:cNvPr id="11" name="Tag desc 3"/>
          <p:cNvSpPr txBox="1"/>
          <p:nvPr/>
        </p:nvSpPr>
        <p:spPr>
          <a:xfrm>
            <a:off x="2971800" y="3794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элементы контроля и промежуточная аттестация, если опубликованы</a:t>
            </a:r>
            <a:endParaRPr lang="en-US" sz="1600" dirty="0"/>
          </a:p>
        </p:txBody>
      </p:sp>
      <p:sp>
        <p:nvSpPr>
          <p:cNvPr id="12" name="Tag 4"/>
          <p:cNvSpPr/>
          <p:nvPr/>
        </p:nvSpPr>
        <p:spPr>
          <a:xfrm>
            <a:off x="548640" y="4892040"/>
            <a:ext cx="2194560" cy="82296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ag text 4"/>
          <p:cNvSpPr txBox="1"/>
          <p:nvPr/>
        </p:nvSpPr>
        <p:spPr>
          <a:xfrm>
            <a:off x="548640" y="4892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Литература</a:t>
            </a:r>
            <a:endParaRPr lang="en-US" sz="1800" dirty="0"/>
          </a:p>
        </p:txBody>
      </p:sp>
      <p:sp>
        <p:nvSpPr>
          <p:cNvPr id="14" name="Tag desc 4"/>
          <p:cNvSpPr txBox="1"/>
          <p:nvPr/>
        </p:nvSpPr>
        <p:spPr>
          <a:xfrm>
            <a:off x="2971800" y="4892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только когда она есть на странице дисциплины</a:t>
            </a:r>
            <a:endParaRPr lang="en-US" sz="1600" dirty="0"/>
          </a:p>
        </p:txBody>
      </p:sp>
      <p:sp>
        <p:nvSpPr>
          <p:cNvPr id="15" name="Example card"/>
          <p:cNvSpPr/>
          <p:nvPr/>
        </p:nvSpPr>
        <p:spPr>
          <a:xfrm>
            <a:off x="7315200" y="1600200"/>
            <a:ext cx="4297680" cy="41148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Example label"/>
          <p:cNvSpPr txBox="1"/>
          <p:nvPr/>
        </p:nvSpPr>
        <p:spPr>
          <a:xfrm>
            <a:off x="768096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6"/>
                </a:solidFill>
              </a:rPr>
              <a:t>ПРИМЕР</a:t>
            </a:r>
            <a:endParaRPr lang="en-US" sz="1300" dirty="0"/>
          </a:p>
        </p:txBody>
      </p:sp>
      <p:sp>
        <p:nvSpPr>
          <p:cNvPr id="17" name="Example title"/>
          <p:cNvSpPr txBox="1"/>
          <p:nvPr/>
        </p:nvSpPr>
        <p:spPr>
          <a:xfrm>
            <a:off x="7680960" y="2331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«Алгоритмизация и программирование»</a:t>
            </a:r>
            <a:endParaRPr lang="en-US" sz="2100" dirty="0"/>
          </a:p>
        </p:txBody>
      </p:sp>
      <p:sp>
        <p:nvSpPr>
          <p:cNvPr id="18" name="Example text"/>
          <p:cNvSpPr txBox="1"/>
          <p:nvPr/>
        </p:nvSpPr>
        <p:spPr>
          <a:xfrm>
            <a:off x="7680960" y="36118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Опубликована формула аттестации 2-го и 4-го модулей: по ней можно отвечать на вопросы об оценивании.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Тестирование: 30 вопросов</a:t>
            </a:r>
            <a:endParaRPr lang="en-US" sz="3800" dirty="0"/>
          </a:p>
        </p:txBody>
      </p:sp>
      <p:sp>
        <p:nvSpPr>
          <p:cNvPr id="3" name="Stat card 1"/>
          <p:cNvSpPr/>
          <p:nvPr/>
        </p:nvSpPr>
        <p:spPr>
          <a:xfrm>
            <a:off x="548640" y="1600200"/>
            <a:ext cx="5440680" cy="31089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number 1"/>
          <p:cNvSpPr txBox="1"/>
          <p:nvPr/>
        </p:nvSpPr>
        <p:spPr>
          <a:xfrm>
            <a:off x="914400" y="17373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0" dirty="0"/>
          </a:p>
        </p:txBody>
      </p:sp>
      <p:sp>
        <p:nvSpPr>
          <p:cNvPr id="5" name="Stat label 1"/>
          <p:cNvSpPr txBox="1"/>
          <p:nvPr/>
        </p:nvSpPr>
        <p:spPr>
          <a:xfrm>
            <a:off x="2743200" y="1737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позитивных</a:t>
            </a:r>
            <a:endParaRPr lang="en-US" sz="2600" dirty="0"/>
          </a:p>
        </p:txBody>
      </p:sp>
      <p:sp>
        <p:nvSpPr>
          <p:cNvPr id="6" name="Stat text 1"/>
          <p:cNvSpPr txBox="1"/>
          <p:nvPr/>
        </p:nvSpPr>
        <p:spPr>
          <a:xfrm>
            <a:off x="914400" y="32004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содержание, кредиты, модули, результаты обучения, связи дисциплин, оценивание, литература</a:t>
            </a:r>
            <a:endParaRPr lang="en-US" sz="1600" dirty="0"/>
          </a:p>
        </p:txBody>
      </p:sp>
      <p:sp>
        <p:nvSpPr>
          <p:cNvPr id="7" name="Stat card 2"/>
          <p:cNvSpPr/>
          <p:nvPr/>
        </p:nvSpPr>
        <p:spPr>
          <a:xfrm>
            <a:off x="6172200" y="1600200"/>
            <a:ext cx="5440680" cy="31089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number 2"/>
          <p:cNvSpPr txBox="1"/>
          <p:nvPr/>
        </p:nvSpPr>
        <p:spPr>
          <a:xfrm>
            <a:off x="6537960" y="17373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0" dirty="0"/>
          </a:p>
        </p:txBody>
      </p:sp>
      <p:sp>
        <p:nvSpPr>
          <p:cNvPr id="9" name="Stat label 2"/>
          <p:cNvSpPr txBox="1"/>
          <p:nvPr/>
        </p:nvSpPr>
        <p:spPr>
          <a:xfrm>
            <a:off x="8366760" y="1737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негативных</a:t>
            </a:r>
            <a:endParaRPr lang="en-US" sz="2600" dirty="0"/>
          </a:p>
        </p:txBody>
      </p:sp>
      <p:sp>
        <p:nvSpPr>
          <p:cNvPr id="10" name="Stat text 2"/>
          <p:cNvSpPr txBox="1"/>
          <p:nvPr/>
        </p:nvSpPr>
        <p:spPr>
          <a:xfrm>
            <a:off x="6537960" y="32004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расписание, аудитории, индивидуальные прогнозы, ДЗ на конкретную неделю, мнения преподавателей</a:t>
            </a:r>
            <a:endParaRPr lang="en-US" sz="1600" dirty="0"/>
          </a:p>
        </p:txBody>
      </p:sp>
      <p:sp>
        <p:nvSpPr>
          <p:cNvPr id="11" name="Negative rule"/>
          <p:cNvSpPr txBox="1"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Правильное поведение на негативных вопросах: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не выдумывать ответ и явно сказать, что данных в корпусе недостаточно.</a:t>
            </a:r>
            <a:endParaRPr lang="en-US" sz="1700" dirty="0"/>
          </a:p>
        </p:txBody>
      </p:sp>
      <p:sp>
        <p:nvSpPr>
          <p:cNvPr id="12" name="Test file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Вопросы и ожидаемые ответы: tests/test_questions.xlsx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решение может ошибаться</a:t>
            </a:r>
            <a:endParaRPr lang="en-US" sz="3800" dirty="0"/>
          </a:p>
        </p:txBody>
      </p:sp>
      <p:sp>
        <p:nvSpPr>
          <p:cNvPr id="3" name="Risk card 1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isk circle 1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6" name="Risk title 1"/>
          <p:cNvSpPr txBox="1"/>
          <p:nvPr/>
        </p:nvSpPr>
        <p:spPr>
          <a:xfrm>
            <a:off x="182880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Парсер</a:t>
            </a:r>
            <a:endParaRPr lang="en-US" sz="2200" dirty="0"/>
          </a:p>
        </p:txBody>
      </p:sp>
      <p:sp>
        <p:nvSpPr>
          <p:cNvPr id="7" name="Risk text 1"/>
          <p:cNvSpPr txBox="1"/>
          <p:nvPr/>
        </p:nvSpPr>
        <p:spPr>
          <a:xfrm>
            <a:off x="182880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Если HSE изменит HTML-разметку, часть разделов не будет извлечена.</a:t>
            </a:r>
            <a:endParaRPr lang="en-US" sz="1600" dirty="0"/>
          </a:p>
        </p:txBody>
      </p:sp>
      <p:sp>
        <p:nvSpPr>
          <p:cNvPr id="8" name="Risk card 2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isk circle 2"/>
          <p:cNvSpPr/>
          <p:nvPr/>
        </p:nvSpPr>
        <p:spPr>
          <a:xfrm>
            <a:off x="6492240" y="19659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48840"/>
            <a:ext cx="365760" cy="365760"/>
          </a:xfrm>
          <a:prstGeom prst="rect">
            <a:avLst/>
          </a:prstGeom>
        </p:spPr>
      </p:pic>
      <p:sp>
        <p:nvSpPr>
          <p:cNvPr id="11" name="Risk title 2"/>
          <p:cNvSpPr txBox="1"/>
          <p:nvPr/>
        </p:nvSpPr>
        <p:spPr>
          <a:xfrm>
            <a:off x="745236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Поиск</a:t>
            </a:r>
            <a:endParaRPr lang="en-US" sz="2200" dirty="0"/>
          </a:p>
        </p:txBody>
      </p:sp>
      <p:sp>
        <p:nvSpPr>
          <p:cNvPr id="12" name="Risk text 2"/>
          <p:cNvSpPr txBox="1"/>
          <p:nvPr/>
        </p:nvSpPr>
        <p:spPr>
          <a:xfrm>
            <a:off x="745236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TF-IDF хуже понимает перефразирование и междисциплинарные вопросы.</a:t>
            </a:r>
            <a:endParaRPr lang="en-US" sz="1600" dirty="0"/>
          </a:p>
        </p:txBody>
      </p:sp>
      <p:sp>
        <p:nvSpPr>
          <p:cNvPr id="13" name="Risk card 3"/>
          <p:cNvSpPr/>
          <p:nvPr/>
        </p:nvSpPr>
        <p:spPr>
          <a:xfrm>
            <a:off x="548640" y="39319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isk circle 3"/>
          <p:cNvSpPr/>
          <p:nvPr/>
        </p:nvSpPr>
        <p:spPr>
          <a:xfrm>
            <a:off x="868680" y="42976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480560"/>
            <a:ext cx="365760" cy="365760"/>
          </a:xfrm>
          <a:prstGeom prst="rect">
            <a:avLst/>
          </a:prstGeom>
        </p:spPr>
      </p:pic>
      <p:sp>
        <p:nvSpPr>
          <p:cNvPr id="16" name="Risk title 3"/>
          <p:cNvSpPr txBox="1"/>
          <p:nvPr/>
        </p:nvSpPr>
        <p:spPr>
          <a:xfrm>
            <a:off x="1828800" y="4251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LLM</a:t>
            </a:r>
            <a:endParaRPr lang="en-US" sz="2200" dirty="0"/>
          </a:p>
        </p:txBody>
      </p:sp>
      <p:sp>
        <p:nvSpPr>
          <p:cNvPr id="17" name="Risk text 3"/>
          <p:cNvSpPr txBox="1"/>
          <p:nvPr/>
        </p:nvSpPr>
        <p:spPr>
          <a:xfrm>
            <a:off x="1828800" y="4800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Может обобщить несколько курсов; в prompt жёстко задано ограничение контекстом.</a:t>
            </a:r>
            <a:endParaRPr lang="en-US" sz="1600" dirty="0"/>
          </a:p>
        </p:txBody>
      </p:sp>
      <p:sp>
        <p:nvSpPr>
          <p:cNvPr id="18" name="Risk card 4"/>
          <p:cNvSpPr/>
          <p:nvPr/>
        </p:nvSpPr>
        <p:spPr>
          <a:xfrm>
            <a:off x="6172200" y="39319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isk circle 4"/>
          <p:cNvSpPr/>
          <p:nvPr/>
        </p:nvSpPr>
        <p:spPr>
          <a:xfrm>
            <a:off x="6492240" y="42976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80560"/>
            <a:ext cx="365760" cy="365760"/>
          </a:xfrm>
          <a:prstGeom prst="rect">
            <a:avLst/>
          </a:prstGeom>
        </p:spPr>
      </p:pic>
      <p:sp>
        <p:nvSpPr>
          <p:cNvPr id="21" name="Risk title 4"/>
          <p:cNvSpPr txBox="1"/>
          <p:nvPr/>
        </p:nvSpPr>
        <p:spPr>
          <a:xfrm>
            <a:off x="7452360" y="4251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Нет данных</a:t>
            </a:r>
            <a:endParaRPr lang="en-US" sz="2200" dirty="0"/>
          </a:p>
        </p:txBody>
      </p:sp>
      <p:sp>
        <p:nvSpPr>
          <p:cNvPr id="22" name="Risk text 4"/>
          <p:cNvSpPr txBox="1"/>
          <p:nvPr/>
        </p:nvSpPr>
        <p:spPr>
          <a:xfrm>
            <a:off x="7452360" y="4800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Расписание, дедлайны и правила пересдачи в источнике могут отсутствовать.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улучшить за ещё 2 дня</a:t>
            </a:r>
            <a:endParaRPr lang="en-US" sz="3800" dirty="0"/>
          </a:p>
        </p:txBody>
      </p:sp>
      <p:sp>
        <p:nvSpPr>
          <p:cNvPr id="3" name="Num circle 1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 1"/>
          <p:cNvSpPr txBox="1"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Imp title 1"/>
          <p:cNvSpPr txBox="1"/>
          <p:nvPr/>
        </p:nvSpPr>
        <p:spPr>
          <a:xfrm>
            <a:off x="146304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Поиск</a:t>
            </a:r>
            <a:endParaRPr lang="en-US" sz="2200" dirty="0"/>
          </a:p>
        </p:txBody>
      </p:sp>
      <p:sp>
        <p:nvSpPr>
          <p:cNvPr id="6" name="Imp text 1"/>
          <p:cNvSpPr txBox="1"/>
          <p:nvPr/>
        </p:nvSpPr>
        <p:spPr>
          <a:xfrm>
            <a:off x="3749040" y="1554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BM25 + multilingual embeddings + reranker вместо TF-IDF</a:t>
            </a:r>
            <a:endParaRPr lang="en-US" sz="1700" dirty="0"/>
          </a:p>
        </p:txBody>
      </p:sp>
      <p:sp>
        <p:nvSpPr>
          <p:cNvPr id="7" name="Num circle 2"/>
          <p:cNvSpPr/>
          <p:nvPr/>
        </p:nvSpPr>
        <p:spPr>
          <a:xfrm>
            <a:off x="548640" y="24963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 2"/>
          <p:cNvSpPr txBox="1"/>
          <p:nvPr/>
        </p:nvSpPr>
        <p:spPr>
          <a:xfrm>
            <a:off x="548640" y="2496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Imp title 2"/>
          <p:cNvSpPr txBox="1"/>
          <p:nvPr/>
        </p:nvSpPr>
        <p:spPr>
          <a:xfrm>
            <a:off x="1463040" y="24505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Валидация</a:t>
            </a:r>
            <a:endParaRPr lang="en-US" sz="2200" dirty="0"/>
          </a:p>
        </p:txBody>
      </p:sp>
      <p:sp>
        <p:nvSpPr>
          <p:cNvPr id="10" name="Imp text 2"/>
          <p:cNvSpPr txBox="1"/>
          <p:nvPr/>
        </p:nvSpPr>
        <p:spPr>
          <a:xfrm>
            <a:off x="3749040" y="24505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Каждая фактическая фраза ответа должна иметь evidence-фрагмент</a:t>
            </a:r>
            <a:endParaRPr lang="en-US" sz="1700" dirty="0"/>
          </a:p>
        </p:txBody>
      </p:sp>
      <p:sp>
        <p:nvSpPr>
          <p:cNvPr id="11" name="Num circle 3"/>
          <p:cNvSpPr/>
          <p:nvPr/>
        </p:nvSpPr>
        <p:spPr>
          <a:xfrm>
            <a:off x="548640" y="339242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 3"/>
          <p:cNvSpPr txBox="1"/>
          <p:nvPr/>
        </p:nvSpPr>
        <p:spPr>
          <a:xfrm>
            <a:off x="548640" y="3392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Imp title 3"/>
          <p:cNvSpPr txBox="1"/>
          <p:nvPr/>
        </p:nvSpPr>
        <p:spPr>
          <a:xfrm>
            <a:off x="1463040" y="334670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Парсер</a:t>
            </a:r>
            <a:endParaRPr lang="en-US" sz="2200" dirty="0"/>
          </a:p>
        </p:txBody>
      </p:sp>
      <p:sp>
        <p:nvSpPr>
          <p:cNvPr id="14" name="Imp text 3"/>
          <p:cNvSpPr txBox="1"/>
          <p:nvPr/>
        </p:nvSpPr>
        <p:spPr>
          <a:xfrm>
            <a:off x="3749040" y="3346704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Устойчивый HTML-парсер с тестами на снимках страниц</a:t>
            </a:r>
            <a:endParaRPr lang="en-US" sz="1700" dirty="0"/>
          </a:p>
        </p:txBody>
      </p:sp>
      <p:sp>
        <p:nvSpPr>
          <p:cNvPr id="15" name="Num circle 4"/>
          <p:cNvSpPr/>
          <p:nvPr/>
        </p:nvSpPr>
        <p:spPr>
          <a:xfrm>
            <a:off x="548640" y="428853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 4"/>
          <p:cNvSpPr txBox="1"/>
          <p:nvPr/>
        </p:nvSpPr>
        <p:spPr>
          <a:xfrm>
            <a:off x="548640" y="4288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Imp title 4"/>
          <p:cNvSpPr txBox="1"/>
          <p:nvPr/>
        </p:nvSpPr>
        <p:spPr>
          <a:xfrm>
            <a:off x="1463040" y="424281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Метрики</a:t>
            </a:r>
            <a:endParaRPr lang="en-US" sz="2200" dirty="0"/>
          </a:p>
        </p:txBody>
      </p:sp>
      <p:sp>
        <p:nvSpPr>
          <p:cNvPr id="18" name="Imp text 4"/>
          <p:cNvSpPr txBox="1"/>
          <p:nvPr/>
        </p:nvSpPr>
        <p:spPr>
          <a:xfrm>
            <a:off x="3749040" y="424281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Оценка качества retrieval и ответов на 30 тестах, страница мониторинга</a:t>
            </a:r>
            <a:endParaRPr lang="en-US" sz="1700" dirty="0"/>
          </a:p>
        </p:txBody>
      </p:sp>
      <p:sp>
        <p:nvSpPr>
          <p:cNvPr id="19" name="Num circle 5"/>
          <p:cNvSpPr/>
          <p:nvPr/>
        </p:nvSpPr>
        <p:spPr>
          <a:xfrm>
            <a:off x="548640" y="518464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 5"/>
          <p:cNvSpPr txBox="1"/>
          <p:nvPr/>
        </p:nvSpPr>
        <p:spPr>
          <a:xfrm>
            <a:off x="548640" y="5184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Imp title 5"/>
          <p:cNvSpPr txBox="1"/>
          <p:nvPr/>
        </p:nvSpPr>
        <p:spPr>
          <a:xfrm>
            <a:off x="1463040" y="5138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Аудит</a:t>
            </a:r>
            <a:endParaRPr lang="en-US" sz="2200" dirty="0"/>
          </a:p>
        </p:txBody>
      </p:sp>
      <p:sp>
        <p:nvSpPr>
          <p:cNvPr id="22" name="Imp text 5"/>
          <p:cNvSpPr txBox="1"/>
          <p:nvPr/>
        </p:nvSpPr>
        <p:spPr>
          <a:xfrm>
            <a:off x="3749040" y="51389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Дата загрузки и хэш источника для отслеживания изменений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 и запуск</a:t>
            </a:r>
            <a:endParaRPr lang="en-US" sz="3800" dirty="0"/>
          </a:p>
        </p:txBody>
      </p:sp>
      <p:sp>
        <p:nvSpPr>
          <p:cNvPr id="3" name="Code card"/>
          <p:cNvSpPr/>
          <p:nvPr/>
        </p:nvSpPr>
        <p:spPr>
          <a:xfrm>
            <a:off x="548640" y="1645920"/>
            <a:ext cx="6766560" cy="393192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868680" y="192024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venv .venv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ingest.py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export OPENAI_API_KEY=…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app.py</a:t>
            </a:r>
            <a:endParaRPr lang="en-US" sz="1800" dirty="0"/>
          </a:p>
        </p:txBody>
      </p:sp>
      <p:sp>
        <p:nvSpPr>
          <p:cNvPr id="5" name="Demo circle 1"/>
          <p:cNvSpPr/>
          <p:nvPr/>
        </p:nvSpPr>
        <p:spPr>
          <a:xfrm>
            <a:off x="777240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920240"/>
            <a:ext cx="365760" cy="365760"/>
          </a:xfrm>
          <a:prstGeom prst="rect">
            <a:avLst/>
          </a:prstGeom>
        </p:spPr>
      </p:pic>
      <p:sp>
        <p:nvSpPr>
          <p:cNvPr id="7" name="Demo text 1"/>
          <p:cNvSpPr txBox="1"/>
          <p:nvPr/>
        </p:nvSpPr>
        <p:spPr>
          <a:xfrm>
            <a:off x="873252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Открытый репозиторий</a:t>
            </a:r>
            <a:endParaRPr lang="en-US" sz="1700" dirty="0"/>
          </a:p>
        </p:txBody>
      </p:sp>
      <p:sp>
        <p:nvSpPr>
          <p:cNvPr id="8" name="Demo circle 2"/>
          <p:cNvSpPr/>
          <p:nvPr/>
        </p:nvSpPr>
        <p:spPr>
          <a:xfrm>
            <a:off x="7772400" y="31089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291840"/>
            <a:ext cx="365760" cy="365760"/>
          </a:xfrm>
          <a:prstGeom prst="rect">
            <a:avLst/>
          </a:prstGeom>
        </p:spPr>
      </p:pic>
      <p:sp>
        <p:nvSpPr>
          <p:cNvPr id="10" name="Demo text 2"/>
          <p:cNvSpPr txBox="1"/>
          <p:nvPr/>
        </p:nvSpPr>
        <p:spPr>
          <a:xfrm>
            <a:off x="8732520" y="3017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В README: команды запуска и ссылка на каталог HSE</a:t>
            </a:r>
            <a:endParaRPr lang="en-US" sz="1700" dirty="0"/>
          </a:p>
        </p:txBody>
      </p:sp>
      <p:sp>
        <p:nvSpPr>
          <p:cNvPr id="11" name="Demo circle 3"/>
          <p:cNvSpPr/>
          <p:nvPr/>
        </p:nvSpPr>
        <p:spPr>
          <a:xfrm>
            <a:off x="7772400" y="44805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663440"/>
            <a:ext cx="365760" cy="365760"/>
          </a:xfrm>
          <a:prstGeom prst="rect">
            <a:avLst/>
          </a:prstGeom>
        </p:spPr>
      </p:pic>
      <p:sp>
        <p:nvSpPr>
          <p:cNvPr id="13" name="Demo text 3"/>
          <p:cNvSpPr txBox="1"/>
          <p:nvPr/>
        </p:nvSpPr>
        <p:spPr>
          <a:xfrm>
            <a:off x="8732520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Режим без ключа: extractive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SE Assistant">
  <a:themeElements>
    <a:clrScheme name="HSE Assistant">
      <a:dk1>
        <a:srgbClr val="1B1F2A"/>
      </a:dk1>
      <a:lt1>
        <a:srgbClr val="FFFFFF"/>
      </a:lt1>
      <a:dk2>
        <a:srgbClr val="12224A"/>
      </a:dk2>
      <a:lt2>
        <a:srgbClr val="EEF2F9"/>
      </a:lt2>
      <a:accent1>
        <a:srgbClr val="2E5BFF"/>
      </a:accent1>
      <a:accent2>
        <a:srgbClr val="FF8A3D"/>
      </a:accent2>
      <a:accent3>
        <a:srgbClr val="1FA37A"/>
      </a:accent3>
      <a:accent4>
        <a:srgbClr val="D64550"/>
      </a:accent4>
      <a:accent5>
        <a:srgbClr val="6B7A99"/>
      </a:accent5>
      <a:accent6>
        <a:srgbClr val="8FB0FF"/>
      </a:accent6>
      <a:hlink>
        <a:srgbClr val="2E5BFF"/>
      </a:hlink>
      <a:folHlink>
        <a:srgbClr val="6B7A99"/>
      </a:folHlink>
    </a:clrScheme>
    <a:fontScheme name="HSE Assista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Помощник первокурсника ИВТ МИЭМ</dc:title>
  <dc:subject>PptxGenJS Presentation</dc:subject>
  <dc:creator>PptxGenJS</dc:creator>
  <cp:lastModifiedBy>PptxGenJS</cp:lastModifiedBy>
  <cp:revision>1</cp:revision>
  <dcterms:created xsi:type="dcterms:W3CDTF">2026-10-24T15:34:27Z</dcterms:created>
  <dcterms:modified xsi:type="dcterms:W3CDTF">2026-10-24T15:34:27Z</dcterms:modified>
</cp:coreProperties>
</file>